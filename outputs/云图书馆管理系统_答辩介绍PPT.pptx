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53f72cb7444ee6" /><Relationship Type="http://schemas.openxmlformats.org/officeDocument/2006/relationships/extended-properties" Target="/docProps/app.xml" Id="R71d9ddeec35f46bf" /><Relationship Type="http://schemas.openxmlformats.org/officeDocument/2006/relationships/officeDocument" Target="/ppt/presentation.xml" Id="R210e0558b60c4a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28728a8eb344bf"/>
  </p:sldMasterIdLst>
  <p:notesMasterIdLst>
    <p:notesMasterId xmlns:r="http://schemas.openxmlformats.org/officeDocument/2006/relationships" r:id="Ra6fa770321304791"/>
  </p:notesMasterIdLst>
  <p:sldIdLst>
    <p:sldId xmlns:r="http://schemas.openxmlformats.org/officeDocument/2006/relationships" id="256" r:id="R13061c101036473d"/>
    <p:sldId xmlns:r="http://schemas.openxmlformats.org/officeDocument/2006/relationships" id="257" r:id="Rf7507d4a37c64251"/>
    <p:sldId xmlns:r="http://schemas.openxmlformats.org/officeDocument/2006/relationships" id="258" r:id="R3fff5ce81c354a26"/>
    <p:sldId xmlns:r="http://schemas.openxmlformats.org/officeDocument/2006/relationships" id="259" r:id="Rc625b310e81d40bc"/>
    <p:sldId xmlns:r="http://schemas.openxmlformats.org/officeDocument/2006/relationships" id="260" r:id="Rebd0ceb3f6684f5f"/>
    <p:sldId xmlns:r="http://schemas.openxmlformats.org/officeDocument/2006/relationships" id="261" r:id="R4d0aad6ea06c492a"/>
    <p:sldId xmlns:r="http://schemas.openxmlformats.org/officeDocument/2006/relationships" id="262" r:id="R9af54562eff84356"/>
    <p:sldId xmlns:r="http://schemas.openxmlformats.org/officeDocument/2006/relationships" id="263" r:id="R5afc6a714d404039"/>
    <p:sldId xmlns:r="http://schemas.openxmlformats.org/officeDocument/2006/relationships" id="264" r:id="R315217a274f243f4"/>
    <p:sldId xmlns:r="http://schemas.openxmlformats.org/officeDocument/2006/relationships" id="265" r:id="R889d44088d524cc6"/>
    <p:sldId xmlns:r="http://schemas.openxmlformats.org/officeDocument/2006/relationships" id="266" r:id="R7f48eaa44e2a4758"/>
    <p:sldId xmlns:r="http://schemas.openxmlformats.org/officeDocument/2006/relationships" id="267" r:id="Re279975bf5ef48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267a2802264fa8" /><Relationship Type="http://schemas.openxmlformats.org/officeDocument/2006/relationships/slideMaster" Target="/ppt/slideMasters/slideMaster1.xml" Id="Rf528728a8eb344bf" /><Relationship Type="http://schemas.openxmlformats.org/officeDocument/2006/relationships/notesMaster" Target="/ppt/notesMasters/notesMaster1.xml" Id="Ra6fa770321304791" /><Relationship Type="http://schemas.openxmlformats.org/officeDocument/2006/relationships/presProps" Target="/ppt/presProps.xml" Id="R60867ce74d634606" /><Relationship Type="http://schemas.openxmlformats.org/officeDocument/2006/relationships/tableStyles" Target="/ppt/tableStyles.xml" Id="R77e201a8c2d24ed7" /><Relationship Type="http://schemas.openxmlformats.org/officeDocument/2006/relationships/slide" Target="/ppt/slides/slide1.xml" Id="R13061c101036473d" /><Relationship Type="http://schemas.openxmlformats.org/officeDocument/2006/relationships/slide" Target="/ppt/slides/slide2.xml" Id="Rf7507d4a37c64251" /><Relationship Type="http://schemas.openxmlformats.org/officeDocument/2006/relationships/slide" Target="/ppt/slides/slide3.xml" Id="R3fff5ce81c354a26" /><Relationship Type="http://schemas.openxmlformats.org/officeDocument/2006/relationships/slide" Target="/ppt/slides/slide4.xml" Id="Rc625b310e81d40bc" /><Relationship Type="http://schemas.openxmlformats.org/officeDocument/2006/relationships/slide" Target="/ppt/slides/slide5.xml" Id="Rebd0ceb3f6684f5f" /><Relationship Type="http://schemas.openxmlformats.org/officeDocument/2006/relationships/slide" Target="/ppt/slides/slide6.xml" Id="R4d0aad6ea06c492a" /><Relationship Type="http://schemas.openxmlformats.org/officeDocument/2006/relationships/slide" Target="/ppt/slides/slide7.xml" Id="R9af54562eff84356" /><Relationship Type="http://schemas.openxmlformats.org/officeDocument/2006/relationships/slide" Target="/ppt/slides/slide8.xml" Id="R5afc6a714d404039" /><Relationship Type="http://schemas.openxmlformats.org/officeDocument/2006/relationships/slide" Target="/ppt/slides/slide9.xml" Id="R315217a274f243f4" /><Relationship Type="http://schemas.openxmlformats.org/officeDocument/2006/relationships/slide" Target="/ppt/slides/slide10.xml" Id="R889d44088d524cc6" /><Relationship Type="http://schemas.openxmlformats.org/officeDocument/2006/relationships/slide" Target="/ppt/slides/slide11.xml" Id="R7f48eaa44e2a4758" /><Relationship Type="http://schemas.openxmlformats.org/officeDocument/2006/relationships/slide" Target="/ppt/slides/slide12.xml" Id="Re279975bf5ef48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8881d6276f44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383f017dba4b09" /><Relationship Type="http://schemas.openxmlformats.org/officeDocument/2006/relationships/notesMaster" Target="/ppt/notesMasters/notesMaster1.xml" Id="Rc4d4069c5d6c4c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564b2091ef4546" /><Relationship Type="http://schemas.openxmlformats.org/officeDocument/2006/relationships/notesMaster" Target="/ppt/notesMasters/notesMaster1.xml" Id="Rebb5206de11c49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ccedcd54c5456e" /><Relationship Type="http://schemas.openxmlformats.org/officeDocument/2006/relationships/notesMaster" Target="/ppt/notesMasters/notesMaster1.xml" Id="R552fbf6f48634a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f2827a9a8a4567" /><Relationship Type="http://schemas.openxmlformats.org/officeDocument/2006/relationships/notesMaster" Target="/ppt/notesMasters/notesMaster1.xml" Id="R6cc78d73300d4c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00eb5d7f6e4b3b" /><Relationship Type="http://schemas.openxmlformats.org/officeDocument/2006/relationships/notesMaster" Target="/ppt/notesMasters/notesMaster1.xml" Id="Rf06ab6c7246640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0332b08f01497b" /><Relationship Type="http://schemas.openxmlformats.org/officeDocument/2006/relationships/notesMaster" Target="/ppt/notesMasters/notesMaster1.xml" Id="R225120fb7ea548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45c6ea04c242e1" /><Relationship Type="http://schemas.openxmlformats.org/officeDocument/2006/relationships/notesMaster" Target="/ppt/notesMasters/notesMaster1.xml" Id="Ra0eec36df55e44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54d90e0fa442c6" /><Relationship Type="http://schemas.openxmlformats.org/officeDocument/2006/relationships/notesMaster" Target="/ppt/notesMasters/notesMaster1.xml" Id="Rf1ee4d3e885f48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86cc1e58594780" /><Relationship Type="http://schemas.openxmlformats.org/officeDocument/2006/relationships/notesMaster" Target="/ppt/notesMasters/notesMaster1.xml" Id="Radbb7a4c81f643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5c56432cec4691" /><Relationship Type="http://schemas.openxmlformats.org/officeDocument/2006/relationships/notesMaster" Target="/ppt/notesMasters/notesMaster1.xml" Id="R8ab46b6b61d54c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399fcf2a5d43c8" /><Relationship Type="http://schemas.openxmlformats.org/officeDocument/2006/relationships/notesMaster" Target="/ppt/notesMasters/notesMaster1.xml" Id="Rfff35e42a40d4a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276a4eb2c549f5" /><Relationship Type="http://schemas.openxmlformats.org/officeDocument/2006/relationships/notesMaster" Target="/ppt/notesMasters/notesMaster1.xml" Id="Rc61964047f9b48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开场可以说：老师好，我汇报的项目是云图书馆管理系统。</a:t>
            </a:r>
          </a:p>
          <a:p xmlns:a="http://schemas.openxmlformats.org/drawingml/2006/main">
            <a:r>
              <a:t>这个系统的目标是把图书馆的图书、用户和借阅流程放到网页里统一管理。</a:t>
            </a:r>
          </a:p>
          <a:p xmlns:a="http://schemas.openxmlformats.org/drawingml/2006/main">
            <a:r>
              <a:t>我会从项目背景、整体架构、功能模块、数据库设计、关键业务流程和总结优化几个方面介绍。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这一页讲项目背景，不要直接念技术名词。</a:t>
            </a:r>
          </a:p>
          <a:p xmlns:a="http://schemas.openxmlformats.org/drawingml/2006/main">
            <a:r>
              <a:t>可以说：图书馆最核心的问题是记录和流转。没有系统时，库存、借阅状态、逾期情况都不直观。</a:t>
            </a:r>
          </a:p>
          <a:p xmlns:a="http://schemas.openxmlformats.org/drawingml/2006/main">
            <a:r>
              <a:t>所以这个项目围绕管理员和用户两类角色，做了查询、借书、还书、续借和统计。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这一页讲系统边界。</a:t>
            </a:r>
          </a:p>
          <a:p xmlns:a="http://schemas.openxmlformats.org/drawingml/2006/main">
            <a:r>
              <a:t>管理员端是后台管理，普通用户端是借阅体验，后端服务负责真正的规则判断和数据库操作。</a:t>
            </a:r>
          </a:p>
          <a:p xmlns:a="http://schemas.openxmlformats.org/drawingml/2006/main">
            <a:r>
              <a:t>答辩时强调：前端页面只是入口，真正保证库存和借阅规则的是后端业务层。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这一页讲架构。可以把系统比作点餐：浏览器是菜单，后端是厨房，数据库是库存账本。</a:t>
            </a:r>
          </a:p>
          <a:p xmlns:a="http://schemas.openxmlformats.org/drawingml/2006/main">
            <a:r>
              <a:t>用户操作前端，前端用 axios 请求后端，后端通过 MyBatis Plus 操作 MySQL。</a:t>
            </a:r>
          </a:p>
          <a:p xmlns:a="http://schemas.openxmlformats.org/drawingml/2006/main">
            <a:r>
              <a:t>这样做的好处是页面和业务分开，后续要改界面或改规则都比较清楚。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这一页讲后端代码组织。</a:t>
            </a:r>
          </a:p>
          <a:p xmlns:a="http://schemas.openxmlformats.org/drawingml/2006/main">
            <a:r>
              <a:t>可以说：Controller 负责入口，Service 负责规则，Mapper 负责数据库，Entity 负责映射表字段。</a:t>
            </a:r>
          </a:p>
          <a:p xmlns:a="http://schemas.openxmlformats.org/drawingml/2006/main">
            <a:r>
              <a:t>重点强调 BorrowServiceImpl，因为借书、还书、续借、逾期都在这里处理。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这一页讲数据库设计。</a:t>
            </a:r>
          </a:p>
          <a:p xmlns:a="http://schemas.openxmlformats.org/drawingml/2006/main">
            <a:r>
              <a:t>不要逐字段死背，抓住四个对象：管理员、读者、图书、借阅记录。</a:t>
            </a:r>
          </a:p>
          <a:p xmlns:a="http://schemas.openxmlformats.org/drawingml/2006/main">
            <a:r>
              <a:t>重点解释 book_info 的 total_count 和 available_count，以及 borrow_record 的 status。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这一页讲管理员端，不需要打开代码。</a:t>
            </a:r>
          </a:p>
          <a:p xmlns:a="http://schemas.openxmlformats.org/drawingml/2006/main">
            <a:r>
              <a:t>可以按页面顺序讲：登录后台后先看数据总览，再维护图书，再登记借阅，最后维护账号。</a:t>
            </a:r>
          </a:p>
          <a:p xmlns:a="http://schemas.openxmlformats.org/drawingml/2006/main">
            <a:r>
              <a:t>强调借阅登记页面已经把读者登记和借书登记合并，提高操作效率。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这一页讲用户端体验。</a:t>
            </a:r>
          </a:p>
          <a:p xmlns:a="http://schemas.openxmlformats.org/drawingml/2006/main">
            <a:r>
              <a:t>可以说：用户端不是只看书，还能完成自助借书和续借。</a:t>
            </a:r>
          </a:p>
          <a:p xmlns:a="http://schemas.openxmlformats.org/drawingml/2006/main">
            <a:r>
              <a:t>日期选择器是为了让用户自己决定还书日期，同时前后端都会限制不能超过 6 个月。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这一页讲核心业务流程。</a:t>
            </a:r>
          </a:p>
          <a:p xmlns:a="http://schemas.openxmlformats.org/drawingml/2006/main">
            <a:r>
              <a:t>重点说：借书不是只插入一条记录，还要同步修改图书库存。</a:t>
            </a:r>
          </a:p>
          <a:p xmlns:a="http://schemas.openxmlformats.org/drawingml/2006/main">
            <a:r>
              <a:t>项目里还设置了 6 个月限制，防止图书长期被占用；前端日期选择器会限制，后端也会再次校验。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这一页讲登录和权限。</a:t>
            </a:r>
          </a:p>
          <a:p xmlns:a="http://schemas.openxmlformats.org/drawingml/2006/main">
            <a:r>
              <a:t>可以说：前端路由守卫负责用户体验，未登录就跳转；后端拦截器负责真正的接口保护。</a:t>
            </a:r>
          </a:p>
          <a:p xmlns:a="http://schemas.openxmlformats.org/drawingml/2006/main">
            <a:r>
              <a:t>普通用户端用 readerId 识别当前用户，因此续借时只能续借自己的记录。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这一页可以放在演示前或演示后讲。</a:t>
            </a:r>
          </a:p>
          <a:p xmlns:a="http://schemas.openxmlformats.org/drawingml/2006/main">
            <a:r>
              <a:t>解释项目运行不是只点一个文件，需要数据库、后端和前端都启动。</a:t>
            </a:r>
          </a:p>
          <a:p xmlns:a="http://schemas.openxmlformats.org/drawingml/2006/main">
            <a:r>
              <a:t>如果老师问端口，回答：后端 8080，前端 5173，前端通过 /api 代理访问后端。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收尾时先总结完成了什么，再讲不足和优化。</a:t>
            </a:r>
          </a:p>
          <a:p xmlns:a="http://schemas.openxmlformats.org/drawingml/2006/main">
            <a:r>
              <a:t>可以说：这个项目已经形成了从馆藏维护、用户查询、借书、续借、还书到统计的闭环。</a:t>
            </a:r>
          </a:p>
          <a:p xmlns:a="http://schemas.openxmlformats.org/drawingml/2006/main">
            <a:r>
              <a:t>真实上线还可以增加密码加密、操作日志、图书封面上传和更细的权限管理。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dfcf9e6fb4c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85cd7db56e4d04" /><Relationship Type="http://schemas.openxmlformats.org/officeDocument/2006/relationships/slideLayout" Target="/ppt/slideLayouts/slideLayout1.xml" Id="R75033469d5a84e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033469d5a84e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d35edb617489e" /><Relationship Type="http://schemas.openxmlformats.org/officeDocument/2006/relationships/notesSlide" Target="/ppt/notesSlides/notesSlide1.xml" Id="R1bc82679302740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e1eab925242cb" /><Relationship Type="http://schemas.openxmlformats.org/officeDocument/2006/relationships/notesSlide" Target="/ppt/notesSlides/notesSlide2.xml" Id="R5e86f210963346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01a58cc6b4135" /><Relationship Type="http://schemas.openxmlformats.org/officeDocument/2006/relationships/notesSlide" Target="/ppt/notesSlides/notesSlide3.xml" Id="R05941e6e43af43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b1cfe78474047" /><Relationship Type="http://schemas.openxmlformats.org/officeDocument/2006/relationships/notesSlide" Target="/ppt/notesSlides/notesSlide4.xml" Id="Rb7bdbef583b146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9fe685d5d43fe" /><Relationship Type="http://schemas.openxmlformats.org/officeDocument/2006/relationships/notesSlide" Target="/ppt/notesSlides/notesSlide5.xml" Id="R9ff4990bd98a48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b7937c1094405" /><Relationship Type="http://schemas.openxmlformats.org/officeDocument/2006/relationships/notesSlide" Target="/ppt/notesSlides/notesSlide6.xml" Id="R1cd9ce04e10542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14f8111534ec1" /><Relationship Type="http://schemas.openxmlformats.org/officeDocument/2006/relationships/notesSlide" Target="/ppt/notesSlides/notesSlide7.xml" Id="R0061c0c560ab4e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81d5c63ed4165" /><Relationship Type="http://schemas.openxmlformats.org/officeDocument/2006/relationships/notesSlide" Target="/ppt/notesSlides/notesSlide8.xml" Id="Re3f365526af54e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2e61a7de74380" /><Relationship Type="http://schemas.openxmlformats.org/officeDocument/2006/relationships/notesSlide" Target="/ppt/notesSlides/notesSlide9.xml" Id="R493fe53ab29343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e854ada044cd7" /><Relationship Type="http://schemas.openxmlformats.org/officeDocument/2006/relationships/notesSlide" Target="/ppt/notesSlides/notesSlide10.xml" Id="R0f2088803c6744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3d9682f7343bb" /><Relationship Type="http://schemas.openxmlformats.org/officeDocument/2006/relationships/notesSlide" Target="/ppt/notesSlides/notesSlide11.xml" Id="R0b575b376da249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ea0a152104481" /><Relationship Type="http://schemas.openxmlformats.org/officeDocument/2006/relationships/notesSlide" Target="/ppt/notesSlides/notesSlide12.xml" Id="Rad3fbbd84e7746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760EA-BDA9-4FFD-8A67-4DCB9537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云图书馆管理系统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E1B9E-326C-4D58-AB4D-D26331C3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基于 Vue 3 + Spring Boot + MySQL 的图书借阅管理项目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FD165-163A-4BC4-81C2-E7D610AA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D0027-FB26-4E2D-82A7-E079427A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9090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C81C6-419F-49DD-81B3-7E172C69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2EAAB-B4D2-429F-881F-A17DA75E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管理员后台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91FD1-B58F-4DB5-B344-CCEDCDC8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图书、用户、借阅、管理员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9A227-1ED7-49B8-A30F-254BFEE3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38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用户借阅端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0D3F2-B966-4C44-93A2-CEE0FCA3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00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注册登录、查询、借书、续借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2E6CC-5948-4B3F-99C1-EA6DB226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业务规则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52B18-5103-4C96-8D57-2D92FF3F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库存变化、6 个月限制、逾期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F9AB9-01D6-48B8-BCF7-AB9A983C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85800"/>
            <a:ext cx="1714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3466F-1B5D-444E-84A1-FCCA6AAA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047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答辩汇报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D0057-2B43-4C7E-9335-4636DC61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76450"/>
            <a:ext cx="133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项目介绍</a:t>
            </a:r>
          </a:p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功能演示</a:t>
            </a:r>
          </a:p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技术说明</a:t>
            </a:r>
          </a:p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总结改进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38633-3930-4FE7-9790-9AD1E091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云图书馆管理系统  01</a:t>
            </a:r>
          </a:p>
        </p:txBody>
      </p:sp>
    </p:spTree>
    <p:extLst>
      <p:ext uri="{BB962C8B-B14F-4D97-AF65-F5344CB8AC3E}">
        <p14:creationId xmlns:p14="http://schemas.microsoft.com/office/powerpoint/2010/main" val="17010281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4C1097-0D43-49B3-A002-F0807F56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项目解决的是图书借阅管理的日常问题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C2902-1A3D-4197-A966-A7C5217C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AC3C2-0CCC-4545-8F03-38472B96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先说明为什么要做，再说明系统覆盖哪些业务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7AB3A-4FF1-4E2D-996E-7107CB8C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25AE6-BD37-42C7-9C3B-ACFB29F3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传统登记容易出现库存不清、记录难查、逾期难发现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ED3F9-1612-430B-B53D-F1617420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8F962-E2AE-4426-9C2D-D71B5510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384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管理员需要集中维护图书、用户和借阅记录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EFEE7-0263-4513-95A4-AEA69569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709FB-6466-42DA-8E39-F4CECD81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普通用户希望能自己查询馆藏、借书和续借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4912D-EEC1-4EE7-8EFB-5DA10ED1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F1043-1EDF-469B-8C3F-FFAA5854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系统把“查询、借出、归还、续借、统计”放到同一个流程里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0A2BC-07A5-42CC-8E48-551A28A8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35ECC-CBCF-4818-9856-F64904B7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一句话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0B5E1-6361-47B1-98F2-A6327505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86100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让图书馆的日常流转更清楚：谁借了哪本书，什么时候还，库存还剩多少。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15396-C1A3-4BFB-B8ED-E0C522BB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云图书馆管理系统  02</a:t>
            </a:r>
          </a:p>
        </p:txBody>
      </p:sp>
    </p:spTree>
    <p:extLst>
      <p:ext uri="{BB962C8B-B14F-4D97-AF65-F5344CB8AC3E}">
        <p14:creationId xmlns:p14="http://schemas.microsoft.com/office/powerpoint/2010/main" val="7755724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4B1C3D-90CA-4B41-AD98-2D7460D4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系统分成管理员端、用户端和后端服务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E44E2-DA31-46C6-9E14-6D95A9BB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C03F3-3704-4E1A-8A1A-EAED111C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角色分开，职责清楚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864D7-DD3A-4EE9-8C96-947F6952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ADB20-9A9D-4B6E-A887-7DB54590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管理员端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F636D-90D9-42B3-886E-DA71721D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2628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数据总览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图书管理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用户管理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借阅管理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管理员管理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6E9E7-1981-42DD-B472-6373EEC9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669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DC76B-C32B-4986-8B1F-F4FA7262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7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用户端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A2879-E3EB-437E-9799-A4FF41C5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2628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注册登录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馆藏查询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自助借书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我的借阅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自定义续借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F9C86-B6F9-46FF-883B-794507F4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CFDD8-4990-4E6C-ADDD-ABE6718B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后端服务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56D85-BFB2-4CB8-AEDF-207CB773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628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登录校验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业务规则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库存变化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逾期判断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数据库读写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F9A98-24E4-4D4A-8C5C-F2D06039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云图书馆管理系统  03</a:t>
            </a:r>
          </a:p>
        </p:txBody>
      </p:sp>
    </p:spTree>
    <p:extLst>
      <p:ext uri="{BB962C8B-B14F-4D97-AF65-F5344CB8AC3E}">
        <p14:creationId xmlns:p14="http://schemas.microsoft.com/office/powerpoint/2010/main" val="14819425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31E419-DAE9-4786-8657-1E837941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技术路线采用前后端分离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85ED4-DE93-4535-A1FE-C5342E76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BA81F-AE83-49A8-936D-73DBD19F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前端负责展示，后端负责业务，数据库负责保存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615F6-1E03-45FF-ABC7-0FD1268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36992-B1E8-486D-8466-EC944FEE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浏览器页面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0C7CD-04D9-447D-AA5F-EEE50CF6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Vue 3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Element Plus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ECEEC-3B7A-4DCD-BD47-B77968CC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8130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AF358-FC03-41EE-8BB0-FC742DB0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接口请求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FE171-13B4-45CC-95D8-C32F9C0B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480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axios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/api 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6157F-E1E8-41F1-9B1B-8AC11EB5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77004-4A09-43E6-8A73-EAEC6DC4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A580C"/>
                </a:solidFill>
              </a:defRPr>
            </a:pPr>
            <a:r>
              <a:rPr sz="1875" b="1">
                <a:solidFill>
                  <a:srgbClr val="EA580C"/>
                </a:solidFill>
              </a:rPr>
              <a:t>后端服务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DB321-30DD-4833-AAA9-66060CDF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Spring Boot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MyBatis Plus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E66B3-9B61-4AC7-AFEE-5CF06E6E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8130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792A9-AC46-4C3F-A5C7-7E555A6C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9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数据库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B96D8-AF29-41B7-85EB-266A226A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480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MySQL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四张核心表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28E418-6177-455E-B155-CF8A25F5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38500"/>
            <a:ext cx="400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FB2C5-A155-40F8-A736-F471B53A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38500"/>
            <a:ext cx="400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D7704-83B7-4F93-BC76-318EECAA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400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881DE-9D71-4238-94F4-61FAFD02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CB603-831D-47A6-8002-F19A1466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前端项目目录：library-system-frontend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44E3C-082A-4ED2-8254-FB017BA9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00EDA3-FB2F-4EBC-A405-C2332A46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530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后端项目目录：library-system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51C2E-6591-4926-99BE-E23ABE4B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A0330-A6B4-400E-B65B-287F991C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开发访问：前端 5173，后端 8080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3EE256-0077-41E6-9485-F61CBDAC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云图书馆管理系统  04</a:t>
            </a:r>
          </a:p>
        </p:txBody>
      </p:sp>
    </p:spTree>
    <p:extLst>
      <p:ext uri="{BB962C8B-B14F-4D97-AF65-F5344CB8AC3E}">
        <p14:creationId xmlns:p14="http://schemas.microsoft.com/office/powerpoint/2010/main" val="2042436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3F441A-350B-4FA6-938C-A1E06016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后端按 Controller、Service、Mapper 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9C16C-D630-4A9C-9F1D-F9AF1304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FCB9D-FC40-46B1-81CA-B01E0B7B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这能让代码职责更清楚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61E8C-A56B-405B-AA74-212624F2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7B6CC-8949-445B-AA4E-67F5811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Controller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C3868-627E-4CAA-B3EB-0B44D975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9145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接收请求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例如 /api/books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把参数交给业务层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21C05-E475-43B3-B80B-409B465B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16EB5-F73E-4697-ACC8-3EB9D12D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57450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99707-9206-4920-B0D8-88E20922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95600"/>
            <a:ext cx="19145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处理业务规则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检查库存和日期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决定是否能借书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23BAC-C228-4C2C-AEF8-76991EE2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3ABCE-8E14-45F4-A27D-DE6AE8D6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Mapper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4EFF7-1036-4D86-B0FF-F409235A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19145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访问数据库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增删改查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由 MyBatis Plus 简化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50457-D854-4CD4-A946-61617050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8D026-FCC8-4196-9933-4DA4E15D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57450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70B8D-7ECE-42D3-8612-CFAB6BD5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19145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Java 对象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对应数据库表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如 BookInfo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8352E-E8A0-4F2D-A5BA-C086C0CF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答辩表达：本项目采用经典三层结构，Controller 不直接写复杂业务，核心规则集中在 Service 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2BDBF-6312-414A-8A37-5ED8C0FE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云图书馆管理系统  05</a:t>
            </a:r>
          </a:p>
        </p:txBody>
      </p:sp>
    </p:spTree>
    <p:extLst>
      <p:ext uri="{BB962C8B-B14F-4D97-AF65-F5344CB8AC3E}">
        <p14:creationId xmlns:p14="http://schemas.microsoft.com/office/powerpoint/2010/main" val="1497734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B93AA8-8D71-4CFB-BFEE-7AC01DF7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数据库围绕四张核心表展开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AB6C7-BC15-4E59-A250-E87F2362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B939B-11A5-468F-8458-34CEF6F8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每张表都对应一个明确的业务对象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46215-F93C-4516-B9D7-9641CCF3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C9E30-8F1D-488A-AC6A-0F476024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表名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43392-FA16-4B8C-B745-B7804A0C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193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25C48-59B9-432B-B3CB-5FBEAE05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90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保存内容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EA70D-70A1-4130-873E-449715DD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19300"/>
            <a:ext cx="638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9716F-49C5-4644-9F93-E6FF3B80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615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关键字段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344F6-C493-4C08-81D2-A3FBECAB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929DF-4916-4295-BEA2-C3620EFC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sys_user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C2799-9616-485F-A3C3-9101EBDD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479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4BDF2-2871-4124-B4E6-34CB70E6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194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管理员账号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0DD1C-10AE-4841-8912-4D9E3DD8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47950"/>
            <a:ext cx="638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30B87-F813-4D2E-AA5E-1D620DCD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19400"/>
            <a:ext cx="615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username、password、real_name、role、status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ECC7DF-1C54-407A-8C43-2E12B9F5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06FD5-197E-4035-9A59-119C1FCE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reader_info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D9BF7-F740-493F-9439-CB496A5C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F7B6A9-28E8-4558-BB23-CC8EF68D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480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普通用户/读者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58DE1-398F-4C92-A477-364003C5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76600"/>
            <a:ext cx="638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B6B942-42CB-4BB2-8563-85DFA721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48050"/>
            <a:ext cx="615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reader_no、password、name、phone、status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6F632-11D8-46ED-BF30-BA3D9B28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F4228-E160-409E-9389-A9DA3E4A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book_info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711EA8-BD63-4F17-BC85-137B2A5B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052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1A664C-6CE0-438B-B862-BC1BB786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767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图书信息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CB7345-CE90-42B4-B3E5-C0A40E4A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05250"/>
            <a:ext cx="638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4984A3-8CCB-41B9-95CF-A33DE017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76700"/>
            <a:ext cx="615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isbn、book_name、category、description、total_count、available_count、location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F7EB2C-58E4-424D-8D6F-1CDBC959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F76B60-ABDF-4763-88BE-E2450AC7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borrow_record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0E9692-6EFD-4ED1-A727-6A18DFAF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339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2BDEDA-E359-4987-947E-5685704C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借阅记录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33E4C0-C727-4386-A91D-0084FFA2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33900"/>
            <a:ext cx="638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8990B4-7C38-4952-A721-A691104D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05350"/>
            <a:ext cx="615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reader_name、reader_phone、book_isbn、book_name、borrow_date、due_date、status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C2ED6A-DCB7-4793-BB84-285DA073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说明：borrow_record.status 中 0 表示借阅中，1 表示已归还，2 表示逾期。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BA5EDB-C80C-43A3-A218-A114F948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云图书馆管理系统  06</a:t>
            </a:r>
          </a:p>
        </p:txBody>
      </p:sp>
    </p:spTree>
    <p:extLst>
      <p:ext uri="{BB962C8B-B14F-4D97-AF65-F5344CB8AC3E}">
        <p14:creationId xmlns:p14="http://schemas.microsoft.com/office/powerpoint/2010/main" val="14240135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FB67B3-78D3-4C81-BBC1-2A8D5480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管理员端覆盖图书馆日常管理流程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AFDD3-EC25-435F-9586-F26D62B0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D0842-AFBB-45B8-8AE7-B645EC1B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从统计到维护，再到借阅登记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29431-A233-4106-988A-83AE72B7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AA9B7-E7F0-4B69-85F5-72198FB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19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数据总览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6911B-DE35-4D30-B2D9-AB1CE828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478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图书总数、读者总数、借阅中、逾期数量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A35D1-7CB1-4FB7-A076-B15324FD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B3A78-AEED-423C-9EC1-87913055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90639-95BA-4EFF-B362-D88EAE56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95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图书管理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F383D-2329-48B6-AAAC-195500E2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241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新增、编辑、删除、搜索、分类、简介和库存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58E4E-01CE-4546-97E7-B6CCBEE6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E63E5-AD75-4EE2-9089-47CAEA82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580C"/>
                </a:solidFill>
              </a:defRPr>
            </a:pPr>
            <a:r>
              <a:rPr sz="2850" b="1">
                <a:solidFill>
                  <a:srgbClr val="EA580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FF559-64AB-4D73-B38B-917CD076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71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借阅管理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C737F-3091-4243-BF1F-CB22C286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004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姓名、电话、书籍编号、书名、借出和应还日期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A9FE5-24A1-46BD-BEA0-F1C5A21F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2080E-D95A-418E-9EDF-116CE4BE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A0124-7EA3-43F2-9E11-9FCEE957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48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账号管理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0DB7B-9979-4AD6-97A2-901651F5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767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维护普通用户和管理员账号状态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B1F965-0B10-457A-A13D-18F63903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CF93F-4BF3-4B66-9A35-7A00E757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云图书馆管理系统  07</a:t>
            </a:r>
          </a:p>
        </p:txBody>
      </p:sp>
    </p:spTree>
    <p:extLst>
      <p:ext uri="{BB962C8B-B14F-4D97-AF65-F5344CB8AC3E}">
        <p14:creationId xmlns:p14="http://schemas.microsoft.com/office/powerpoint/2010/main" val="3196841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4836E2-E343-4CE8-8D35-8F4C92CF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用户端让读者自己完成查询、借书和续借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1C5D4-6822-4A28-822F-95819DB2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968B1-BB2B-4C38-B66E-1A0C0585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账号注册简单，借还日期由用户选择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112AB-3343-4E8F-B0D2-B30B0F63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BADE0-E389-4D04-BF3A-7ADA6162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193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注册只需要 6 位及以上账号和密码，不需要验证码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D0F03-0CAC-43E4-AB33-AEC2D357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19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F7E4F-FAA3-431A-9597-3AD113FB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4317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登录后可以按分类或关键词查询馆藏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4D2A0-F267-48ED-BA14-9FB39DB5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B0626-63F3-48AF-9A86-0580F6A6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馆藏卡片显示简介、库存和可借数量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C4374-64F9-4993-B58D-9E881ACB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67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C7446-05E4-4E55-A320-9C0FD12B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9092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点击借书时必须选择还书日期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4027D-7D7A-4858-907C-BBDFFD52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4739E-3D38-4D96-A9ED-5E54C64E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我的借阅中可以查看状态并选择新的续借日期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656F3-FF5A-4049-927A-D476151C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2571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F82C9-AAA2-430A-8DF7-105F3F29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用户流程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20D5B-18FD-42AD-BAA3-B28FE137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33700"/>
            <a:ext cx="1809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注册/登录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↓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查询馆藏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↓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选择还书日期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↓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借书成功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↓</a:t>
            </a:r>
          </a:p>
          <a:p xmlns:a="http://schemas.openxmlformats.org/drawingml/2006/main">
            <a:pPr algn="ctr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我的借阅/续借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F7519-7921-4A37-A3BE-A63982D4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云图书馆管理系统  08</a:t>
            </a:r>
          </a:p>
        </p:txBody>
      </p:sp>
    </p:spTree>
    <p:extLst>
      <p:ext uri="{BB962C8B-B14F-4D97-AF65-F5344CB8AC3E}">
        <p14:creationId xmlns:p14="http://schemas.microsoft.com/office/powerpoint/2010/main" val="3032928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AC2891-410F-4D11-A1D8-734E8A26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借书流程的关键是日期、库存和记录同步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B65C9-7CAE-4F4B-A83C-65808C20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4AAA1-B859-4615-8607-30D85BD1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规则在后端兜底，前端负责提醒和输入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BBB1E-33CC-4E08-930F-B0D140DF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69B27-4B17-49A0-94C9-08986D9B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580C"/>
                </a:solidFill>
              </a:defRPr>
            </a:pPr>
            <a:r>
              <a:rPr sz="3000" b="1">
                <a:solidFill>
                  <a:srgbClr val="EA580C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33AD2-5972-40B7-8709-A6782F52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选择图书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D927B-C594-4F19-BDDA-534D760D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确认图书存在且有库存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4C932-AA9D-438B-9D44-63D0D048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623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0B127-1845-42EA-A2CC-2C7D759C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D93E5-C369-4098-A022-DDBB71DE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46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580C"/>
                </a:solidFill>
              </a:defRPr>
            </a:pPr>
            <a:r>
              <a:rPr sz="3000" b="1">
                <a:solidFill>
                  <a:srgbClr val="EA580C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710A2-45C5-4EAC-B7B6-2078823F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19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选择日期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1F251-D233-4E10-AE39-A97D3A01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338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还书日期不能早于借出日期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A359E-40C5-477B-8FB4-02AB6489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623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E661C-B99F-4153-ABFE-5E384001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57B52-3CBA-4F00-8827-46285874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580C"/>
                </a:solidFill>
              </a:defRPr>
            </a:pPr>
            <a:r>
              <a:rPr sz="3000" b="1">
                <a:solidFill>
                  <a:srgbClr val="EA580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F73D1-40B0-4EC1-84FC-D953C394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写入记录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30CA0-A46E-4630-9A59-1E1A213E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生成 borrow_record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5B579-412F-4937-8397-8B3FE479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623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3E09F-3719-4039-A36D-0B61A33F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24100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C4428-0EF2-4842-AB8D-142B37C1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146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580C"/>
                </a:solidFill>
              </a:defRPr>
            </a:pPr>
            <a:r>
              <a:rPr sz="3000" b="1">
                <a:solidFill>
                  <a:srgbClr val="EA580C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84A965-E416-458D-A54E-E770FC36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19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更新库存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947221-403B-4F8E-BD3C-3223B51D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338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available_count 减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38A2C-46FF-4914-876F-E5BDB7A9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后端限制：每次借书和续借后的总期限不能超过借出日期后的 6 个月。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19547E-4F86-4748-96C9-5309B137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云图书馆管理系统  09</a:t>
            </a:r>
          </a:p>
        </p:txBody>
      </p:sp>
    </p:spTree>
    <p:extLst>
      <p:ext uri="{BB962C8B-B14F-4D97-AF65-F5344CB8AC3E}">
        <p14:creationId xmlns:p14="http://schemas.microsoft.com/office/powerpoint/2010/main" val="1082731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019B90-66D9-4367-8CD4-3F4ABEAF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登录权限把管理员和普通用户分开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7D44E-0C70-4248-ADBA-106C2789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1B78C-F908-4707-A641-08CFDB58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避免未登录访问管理功能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39E2F-9770-4069-B591-BDF5567B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4F9CC-B000-4E2E-9FD0-2990113F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前端路由守卫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AF938-38E0-4A87-9547-8F860386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8194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router/index.js 根据 userId 或 readerId 判断能否进入页面；未登录会跳转到登录页。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79B22-2A6D-4DFC-B4A0-16EE962F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AC824-C1C8-49BB-8B55-90B73E9B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后端拦截器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88884-993E-4213-9719-398EE282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28194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LoginInterceptor 检查 session 中是否有管理员 userId，没有就返回 401。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BE280-E144-4EBD-8D06-AD208B36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717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273CB-65DD-4A3C-8B5C-28BA6B9A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用户身份校验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A7A2E-0718-4544-9388-F8F6DE0A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28194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用户借书和续借时从 session 取 readerId，防止操作别人的借阅记录。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37832-D484-4BEB-A525-D94BBDC5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答辩表达：前端控制页面入口，后端控制接口权限，两层配合让系统更稳。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413EA-72DE-4A18-AC19-69A7201F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云图书馆管理系统  10</a:t>
            </a:r>
          </a:p>
        </p:txBody>
      </p:sp>
    </p:spTree>
    <p:extLst>
      <p:ext uri="{BB962C8B-B14F-4D97-AF65-F5344CB8AC3E}">
        <p14:creationId xmlns:p14="http://schemas.microsoft.com/office/powerpoint/2010/main" val="4274478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3B015C-D86B-4825-8725-6D535A53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项目运行需要前端、后端和数据库同时正常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9182F-B84F-4982-9EB6-20715E9E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88B5F-DFDE-4D87-AB67-BF64A734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答辩演示前先确认三个服务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7B680-927D-4DDD-83C3-6D3D8EF8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2D1D9-C34E-474A-8AE5-35D32C74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241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1. MySQL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8CAD1-F9A6-449F-BD7A-AC9215AA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62250"/>
            <a:ext cx="2628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数据库 library_training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账号 root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密码 123456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313A8-A5E4-4DE5-8160-9AC9F86C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F4CB3-9EBD-4C82-9540-70C40E5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2. 后端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E6DC2-BFBC-4314-B1E2-58EDB232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628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cd library-system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.\mvnw.cmd spring-boot:run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端口 8080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10E4D-BD4A-4FFA-BA14-5EFCC2C9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1FCB0-8FFF-4503-8BC4-4665FD86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3. 前端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C56E1-BB5E-4F4F-8120-897675FB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628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cd library-system-frontend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npm run dev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端口 5173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435D3-47E8-4083-8E31-6E2F3B3B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浏览器访问：http://127.0.0.1:5173/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4C790-4B45-4DA3-AE57-A06457F3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云图书馆管理系统  11</a:t>
            </a:r>
          </a:p>
        </p:txBody>
      </p:sp>
    </p:spTree>
    <p:extLst>
      <p:ext uri="{BB962C8B-B14F-4D97-AF65-F5344CB8AC3E}">
        <p14:creationId xmlns:p14="http://schemas.microsoft.com/office/powerpoint/2010/main" val="12313258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1ADA28-2998-4A33-9225-5465BF4D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总结：项目完成了完整的图书借阅闭环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D8497-5B85-44C9-A3B8-D5730504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227E7-753B-4251-A486-8AF03D4A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最后要讲完成度，也要主动说改进方向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9FB6A-929B-44D2-B16A-3C00E2A1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CCCC5-1ED5-44E3-8CE8-78F0C790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574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完成管理员端：数据总览、图书管理、用户管理、借阅管理、管理员管理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F1C7E-1519-416A-84C5-38F96E2C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F9222-0B90-432D-8EBE-B66D42C1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完成用户端：注册登录、馆藏查询、借书、我的借阅、续借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CB1DE-1343-405E-9B84-562BA84E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BBC43-9BAE-4B29-8A2F-2BD62BF5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完成核心规则：库存同步、6 个月期限、逾期状态、登录权限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C5665-873C-4D6C-A646-DEFC7D1D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D8B33-69AD-4C45-AD1C-69A36482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后续可优化：密码加密、操作日志、图书封面、批量导入、罚金计算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936B6-FDEF-45C4-8717-EE8A8119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006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52743-A25E-4C28-A7E0-4CA0DA19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10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汇报结束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241DD-7FB1-485B-A037-62945D36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云图书馆管理系统  12</a:t>
            </a:r>
          </a:p>
        </p:txBody>
      </p:sp>
    </p:spTree>
    <p:extLst>
      <p:ext uri="{BB962C8B-B14F-4D97-AF65-F5344CB8AC3E}">
        <p14:creationId xmlns:p14="http://schemas.microsoft.com/office/powerpoint/2010/main" val="211362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2026-07-07T01:04:37.3600000Z</dcterms:created>
  <dcterms:modified xsi:type="dcterms:W3CDTF">2026-07-07T01:04:37.3600000Z</dcterms:modified>
</coreProperties>
</file>